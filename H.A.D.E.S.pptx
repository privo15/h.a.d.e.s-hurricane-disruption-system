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5.xml"/><Relationship Id="rId22" Type="http://schemas.openxmlformats.org/officeDocument/2006/relationships/font" Target="fonts/Roboto-boldItalic.fntdata"/><Relationship Id="rId10" Type="http://schemas.openxmlformats.org/officeDocument/2006/relationships/slide" Target="slides/slide4.xml"/><Relationship Id="rId21" Type="http://schemas.openxmlformats.org/officeDocument/2006/relationships/font" Target="fonts/Roboto-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Roboto-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65b05fd326_5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65b05fd326_5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655c434e9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655c434e9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655c434e9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655c434e9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a:t>
            </a:r>
            <a:endParaRPr/>
          </a:p>
          <a:p>
            <a:pPr indent="0" lvl="0" marL="0" rtl="0" algn="l">
              <a:spcBef>
                <a:spcPts val="0"/>
              </a:spcBef>
              <a:spcAft>
                <a:spcPts val="0"/>
              </a:spcAft>
              <a:buNone/>
            </a:pPr>
            <a:r>
              <a:rPr lang="en"/>
              <a:t>Talk about how climate change, which comes about as a result of global warming, contributes to the increase of hurricane activity. Find graphs of hurricane </a:t>
            </a:r>
            <a:r>
              <a:rPr lang="en"/>
              <a:t>occurrences.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65b05fd326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65b05fd326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a:t>
            </a:r>
            <a:endParaRPr/>
          </a:p>
          <a:p>
            <a:pPr indent="0" lvl="0" marL="0" rtl="0" algn="l">
              <a:spcBef>
                <a:spcPts val="0"/>
              </a:spcBef>
              <a:spcAft>
                <a:spcPts val="0"/>
              </a:spcAft>
              <a:buNone/>
            </a:pPr>
            <a:r>
              <a:rPr lang="en"/>
              <a:t>Talk about how climate change, which comes about as a result of global warming, contributes to the increase of hurricane activity. Find graphs of hurricane occurrences.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655c434e91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655c434e91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a:p>
            <a:pPr indent="0" lvl="0" marL="0" rtl="0" algn="l">
              <a:spcBef>
                <a:spcPts val="0"/>
              </a:spcBef>
              <a:spcAft>
                <a:spcPts val="0"/>
              </a:spcAft>
              <a:buNone/>
            </a:pPr>
            <a:r>
              <a:rPr lang="en"/>
              <a:t>Talk about the costs of damage caused by various hurricanes. Show pictures of various damages. Display bar graph of costs per hurricane. Elaborate on what that money can be used for instead (funding climate change research).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655c434e91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655c434e91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a:p>
            <a:pPr indent="0" lvl="0" marL="0" rtl="0" algn="l">
              <a:spcBef>
                <a:spcPts val="0"/>
              </a:spcBef>
              <a:spcAft>
                <a:spcPts val="0"/>
              </a:spcAft>
              <a:buNone/>
            </a:pPr>
            <a:r>
              <a:rPr lang="en"/>
              <a:t>Insert picture of current technology. </a:t>
            </a:r>
            <a:r>
              <a:rPr lang="en"/>
              <a:t>Explain briefly how it works. </a:t>
            </a:r>
            <a:r>
              <a:rPr lang="en"/>
              <a:t>Insert picture of our product. Explain how our product does better using the law of conservation of energy. Because our product is mobile, it will follow the storm hence it will remain as a closed system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658c4da78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658c4da78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
              <a:t>Explain the </a:t>
            </a:r>
            <a:r>
              <a:rPr lang="en"/>
              <a:t>difference</a:t>
            </a:r>
            <a:r>
              <a:rPr lang="en"/>
              <a:t> between the current product and H.A.D.E.S.</a:t>
            </a:r>
            <a:endParaRPr/>
          </a:p>
          <a:p>
            <a:pPr indent="-298450" lvl="0" marL="457200" rtl="0" algn="l">
              <a:spcBef>
                <a:spcPts val="0"/>
              </a:spcBef>
              <a:spcAft>
                <a:spcPts val="0"/>
              </a:spcAft>
              <a:buSzPts val="1100"/>
              <a:buAutoNum type="arabicParenR"/>
            </a:pPr>
            <a:r>
              <a:rPr lang="en"/>
              <a:t>So what is so special about this ? Explain with law of conservation of energy. </a:t>
            </a:r>
            <a:endParaRPr/>
          </a:p>
          <a:p>
            <a:pPr indent="0" lvl="0" marL="45720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658c4da789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658c4da789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655c434e91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655c434e91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Benefits:</a:t>
            </a:r>
            <a:endParaRPr/>
          </a:p>
          <a:p>
            <a:pPr indent="0" lvl="0" marL="0" rtl="0" algn="l">
              <a:spcBef>
                <a:spcPts val="0"/>
              </a:spcBef>
              <a:spcAft>
                <a:spcPts val="0"/>
              </a:spcAft>
              <a:buNone/>
            </a:pPr>
            <a:r>
              <a:rPr lang="en"/>
              <a:t>Explain how our product can benefit countries and the world overall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655c434e91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655c434e91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a:p>
            <a:pPr indent="0" lvl="0" marL="0" rtl="0" algn="l">
              <a:spcBef>
                <a:spcPts val="0"/>
              </a:spcBef>
              <a:spcAft>
                <a:spcPts val="0"/>
              </a:spcAft>
              <a:buNone/>
            </a:pPr>
            <a:r>
              <a:rPr lang="en"/>
              <a:t>Talk about how while Singapore does not experience hurricanes, we will definitely feel the other effects of climate change such as rising sea levels and increasing daytime temperature. Talk about how our product focuses on this aspect of climate change(hurricanes) and seem to be treating the symptom and that while small, it is still a step to combating climate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Increasing monster storms and  </a:t>
            </a:r>
            <a:r>
              <a:rPr lang="en"/>
              <a:t>climate</a:t>
            </a:r>
            <a:r>
              <a:rPr lang="en"/>
              <a:t> change, we can no longer ignore this problem.</a:t>
            </a:r>
            <a:endParaRPr/>
          </a:p>
          <a:p>
            <a:pPr indent="0" lvl="0" marL="0" rtl="0" algn="l">
              <a:spcBef>
                <a:spcPts val="0"/>
              </a:spcBef>
              <a:spcAft>
                <a:spcPts val="0"/>
              </a:spcAft>
              <a:buNone/>
            </a:pPr>
            <a:r>
              <a:rPr lang="en"/>
              <a:t>So let  H.A.D.E.S solve this one aspect of climate change so that we can focus on the others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655c434e91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655c434e91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658c4da789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658c4da789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grpSp>
        <p:nvGrpSpPr>
          <p:cNvPr id="55" name="Google Shape;55;p14"/>
          <p:cNvGrpSpPr/>
          <p:nvPr/>
        </p:nvGrpSpPr>
        <p:grpSpPr>
          <a:xfrm>
            <a:off x="6098378" y="5"/>
            <a:ext cx="3045625" cy="2030570"/>
            <a:chOff x="6098378" y="5"/>
            <a:chExt cx="3045625" cy="2030570"/>
          </a:xfrm>
        </p:grpSpPr>
        <p:sp>
          <p:nvSpPr>
            <p:cNvPr id="56" name="Google Shape;56;p14"/>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4"/>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4"/>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4"/>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14"/>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2" name="Google Shape;62;p14"/>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63" name="Google Shape;63;p1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grpSp>
        <p:nvGrpSpPr>
          <p:cNvPr id="65" name="Google Shape;65;p15"/>
          <p:cNvGrpSpPr/>
          <p:nvPr/>
        </p:nvGrpSpPr>
        <p:grpSpPr>
          <a:xfrm>
            <a:off x="0" y="3903669"/>
            <a:ext cx="9144000" cy="1239925"/>
            <a:chOff x="0" y="3903669"/>
            <a:chExt cx="9144000" cy="1239925"/>
          </a:xfrm>
        </p:grpSpPr>
        <p:sp>
          <p:nvSpPr>
            <p:cNvPr id="66" name="Google Shape;66;p15"/>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5"/>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5"/>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5"/>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5"/>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 name="Google Shape;71;p1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2" name="Google Shape;72;p1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3" name="Google Shape;73;p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74" name="Shape 74"/>
        <p:cNvGrpSpPr/>
        <p:nvPr/>
      </p:nvGrpSpPr>
      <p:grpSpPr>
        <a:xfrm>
          <a:off x="0" y="0"/>
          <a:ext cx="0" cy="0"/>
          <a:chOff x="0" y="0"/>
          <a:chExt cx="0" cy="0"/>
        </a:xfrm>
      </p:grpSpPr>
      <p:grpSp>
        <p:nvGrpSpPr>
          <p:cNvPr id="75" name="Google Shape;75;p16"/>
          <p:cNvGrpSpPr/>
          <p:nvPr/>
        </p:nvGrpSpPr>
        <p:grpSpPr>
          <a:xfrm>
            <a:off x="6098378" y="5"/>
            <a:ext cx="3045625" cy="2030570"/>
            <a:chOff x="6098378" y="5"/>
            <a:chExt cx="3045625" cy="2030570"/>
          </a:xfrm>
        </p:grpSpPr>
        <p:sp>
          <p:nvSpPr>
            <p:cNvPr id="76" name="Google Shape;76;p16"/>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6"/>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6"/>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6"/>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6"/>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1" name="Google Shape;81;p16"/>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82" name="Google Shape;82;p1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3" name="Shape 83"/>
        <p:cNvGrpSpPr/>
        <p:nvPr/>
      </p:nvGrpSpPr>
      <p:grpSpPr>
        <a:xfrm>
          <a:off x="0" y="0"/>
          <a:ext cx="0" cy="0"/>
          <a:chOff x="0" y="0"/>
          <a:chExt cx="0" cy="0"/>
        </a:xfrm>
      </p:grpSpPr>
      <p:sp>
        <p:nvSpPr>
          <p:cNvPr id="84" name="Google Shape;84;p1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5" name="Google Shape;85;p17"/>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6" name="Google Shape;86;p17"/>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7" name="Google Shape;87;p1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8" name="Shape 88"/>
        <p:cNvGrpSpPr/>
        <p:nvPr/>
      </p:nvGrpSpPr>
      <p:grpSpPr>
        <a:xfrm>
          <a:off x="0" y="0"/>
          <a:ext cx="0" cy="0"/>
          <a:chOff x="0" y="0"/>
          <a:chExt cx="0" cy="0"/>
        </a:xfrm>
      </p:grpSpPr>
      <p:sp>
        <p:nvSpPr>
          <p:cNvPr id="89" name="Google Shape;89;p1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0" name="Google Shape;90;p1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1" name="Shape 91"/>
        <p:cNvGrpSpPr/>
        <p:nvPr/>
      </p:nvGrpSpPr>
      <p:grpSpPr>
        <a:xfrm>
          <a:off x="0" y="0"/>
          <a:ext cx="0" cy="0"/>
          <a:chOff x="0" y="0"/>
          <a:chExt cx="0" cy="0"/>
        </a:xfrm>
      </p:grpSpPr>
      <p:sp>
        <p:nvSpPr>
          <p:cNvPr id="92" name="Google Shape;92;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3" name="Google Shape;93;p19"/>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94" name="Google Shape;94;p1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95" name="Shape 95"/>
        <p:cNvGrpSpPr/>
        <p:nvPr/>
      </p:nvGrpSpPr>
      <p:grpSpPr>
        <a:xfrm>
          <a:off x="0" y="0"/>
          <a:ext cx="0" cy="0"/>
          <a:chOff x="0" y="0"/>
          <a:chExt cx="0" cy="0"/>
        </a:xfrm>
      </p:grpSpPr>
      <p:grpSp>
        <p:nvGrpSpPr>
          <p:cNvPr id="96" name="Google Shape;96;p20"/>
          <p:cNvGrpSpPr/>
          <p:nvPr/>
        </p:nvGrpSpPr>
        <p:grpSpPr>
          <a:xfrm>
            <a:off x="6098378" y="5"/>
            <a:ext cx="3045625" cy="2030570"/>
            <a:chOff x="6098378" y="5"/>
            <a:chExt cx="3045625" cy="2030570"/>
          </a:xfrm>
        </p:grpSpPr>
        <p:sp>
          <p:nvSpPr>
            <p:cNvPr id="97" name="Google Shape;97;p20"/>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0"/>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0"/>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0"/>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0"/>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2" name="Google Shape;102;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03" name="Google Shape;103;p2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4" name="Shape 104"/>
        <p:cNvGrpSpPr/>
        <p:nvPr/>
      </p:nvGrpSpPr>
      <p:grpSpPr>
        <a:xfrm>
          <a:off x="0" y="0"/>
          <a:ext cx="0" cy="0"/>
          <a:chOff x="0" y="0"/>
          <a:chExt cx="0" cy="0"/>
        </a:xfrm>
      </p:grpSpPr>
      <p:sp>
        <p:nvSpPr>
          <p:cNvPr id="105" name="Google Shape;105;p21"/>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6" name="Google Shape;106;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07" name="Google Shape;107;p21"/>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08" name="Google Shape;108;p21"/>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9" name="Google Shape;109;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110" name="Google Shape;110;p2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1" name="Shape 111"/>
        <p:cNvGrpSpPr/>
        <p:nvPr/>
      </p:nvGrpSpPr>
      <p:grpSpPr>
        <a:xfrm>
          <a:off x="0" y="0"/>
          <a:ext cx="0" cy="0"/>
          <a:chOff x="0" y="0"/>
          <a:chExt cx="0" cy="0"/>
        </a:xfrm>
      </p:grpSpPr>
      <p:sp>
        <p:nvSpPr>
          <p:cNvPr id="112" name="Google Shape;112;p22"/>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113" name="Google Shape;113;p2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14" name="Shape 114"/>
        <p:cNvGrpSpPr/>
        <p:nvPr/>
      </p:nvGrpSpPr>
      <p:grpSpPr>
        <a:xfrm>
          <a:off x="0" y="0"/>
          <a:ext cx="0" cy="0"/>
          <a:chOff x="0" y="0"/>
          <a:chExt cx="0" cy="0"/>
        </a:xfrm>
      </p:grpSpPr>
      <p:grpSp>
        <p:nvGrpSpPr>
          <p:cNvPr id="115" name="Google Shape;115;p23"/>
          <p:cNvGrpSpPr/>
          <p:nvPr/>
        </p:nvGrpSpPr>
        <p:grpSpPr>
          <a:xfrm>
            <a:off x="6098378" y="5"/>
            <a:ext cx="3045625" cy="2030570"/>
            <a:chOff x="6098378" y="5"/>
            <a:chExt cx="3045625" cy="2030570"/>
          </a:xfrm>
        </p:grpSpPr>
        <p:sp>
          <p:nvSpPr>
            <p:cNvPr id="116" name="Google Shape;116;p2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 name="Google Shape;121;p23"/>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122" name="Google Shape;122;p23"/>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1600"/>
              </a:spcBef>
              <a:spcAft>
                <a:spcPts val="0"/>
              </a:spcAft>
              <a:buClr>
                <a:schemeClr val="lt1"/>
              </a:buClr>
              <a:buSzPts val="1400"/>
              <a:buChar char="○"/>
              <a:defRPr>
                <a:solidFill>
                  <a:schemeClr val="lt1"/>
                </a:solidFill>
              </a:defRPr>
            </a:lvl2pPr>
            <a:lvl3pPr indent="-317500" lvl="2" marL="1371600" algn="ctr">
              <a:lnSpc>
                <a:spcPct val="115000"/>
              </a:lnSpc>
              <a:spcBef>
                <a:spcPts val="1600"/>
              </a:spcBef>
              <a:spcAft>
                <a:spcPts val="0"/>
              </a:spcAft>
              <a:buClr>
                <a:schemeClr val="lt1"/>
              </a:buClr>
              <a:buSzPts val="1400"/>
              <a:buChar char="■"/>
              <a:defRPr>
                <a:solidFill>
                  <a:schemeClr val="lt1"/>
                </a:solidFill>
              </a:defRPr>
            </a:lvl3pPr>
            <a:lvl4pPr indent="-317500" lvl="3" marL="1828800" algn="ctr">
              <a:lnSpc>
                <a:spcPct val="115000"/>
              </a:lnSpc>
              <a:spcBef>
                <a:spcPts val="1600"/>
              </a:spcBef>
              <a:spcAft>
                <a:spcPts val="0"/>
              </a:spcAft>
              <a:buClr>
                <a:schemeClr val="lt1"/>
              </a:buClr>
              <a:buSzPts val="1400"/>
              <a:buChar char="●"/>
              <a:defRPr>
                <a:solidFill>
                  <a:schemeClr val="lt1"/>
                </a:solidFill>
              </a:defRPr>
            </a:lvl4pPr>
            <a:lvl5pPr indent="-317500" lvl="4" marL="2286000" algn="ctr">
              <a:lnSpc>
                <a:spcPct val="115000"/>
              </a:lnSpc>
              <a:spcBef>
                <a:spcPts val="1600"/>
              </a:spcBef>
              <a:spcAft>
                <a:spcPts val="0"/>
              </a:spcAft>
              <a:buClr>
                <a:schemeClr val="lt1"/>
              </a:buClr>
              <a:buSzPts val="1400"/>
              <a:buChar char="○"/>
              <a:defRPr>
                <a:solidFill>
                  <a:schemeClr val="lt1"/>
                </a:solidFill>
              </a:defRPr>
            </a:lvl5pPr>
            <a:lvl6pPr indent="-317500" lvl="5" marL="2743200" algn="ctr">
              <a:lnSpc>
                <a:spcPct val="115000"/>
              </a:lnSpc>
              <a:spcBef>
                <a:spcPts val="1600"/>
              </a:spcBef>
              <a:spcAft>
                <a:spcPts val="0"/>
              </a:spcAft>
              <a:buClr>
                <a:schemeClr val="lt1"/>
              </a:buClr>
              <a:buSzPts val="1400"/>
              <a:buChar char="■"/>
              <a:defRPr>
                <a:solidFill>
                  <a:schemeClr val="lt1"/>
                </a:solidFill>
              </a:defRPr>
            </a:lvl6pPr>
            <a:lvl7pPr indent="-317500" lvl="6" marL="3200400" algn="ctr">
              <a:lnSpc>
                <a:spcPct val="115000"/>
              </a:lnSpc>
              <a:spcBef>
                <a:spcPts val="1600"/>
              </a:spcBef>
              <a:spcAft>
                <a:spcPts val="0"/>
              </a:spcAft>
              <a:buClr>
                <a:schemeClr val="lt1"/>
              </a:buClr>
              <a:buSzPts val="1400"/>
              <a:buChar char="●"/>
              <a:defRPr>
                <a:solidFill>
                  <a:schemeClr val="lt1"/>
                </a:solidFill>
              </a:defRPr>
            </a:lvl7pPr>
            <a:lvl8pPr indent="-317500" lvl="7" marL="3657600" algn="ctr">
              <a:lnSpc>
                <a:spcPct val="115000"/>
              </a:lnSpc>
              <a:spcBef>
                <a:spcPts val="1600"/>
              </a:spcBef>
              <a:spcAft>
                <a:spcPts val="0"/>
              </a:spcAft>
              <a:buClr>
                <a:schemeClr val="lt1"/>
              </a:buClr>
              <a:buSzPts val="1400"/>
              <a:buChar char="○"/>
              <a:defRPr>
                <a:solidFill>
                  <a:schemeClr val="lt1"/>
                </a:solidFill>
              </a:defRPr>
            </a:lvl8pPr>
            <a:lvl9pPr indent="-317500" lvl="8" marL="4114800" algn="ctr">
              <a:lnSpc>
                <a:spcPct val="115000"/>
              </a:lnSpc>
              <a:spcBef>
                <a:spcPts val="1600"/>
              </a:spcBef>
              <a:spcAft>
                <a:spcPts val="1600"/>
              </a:spcAft>
              <a:buClr>
                <a:schemeClr val="lt1"/>
              </a:buClr>
              <a:buSzPts val="1400"/>
              <a:buChar char="■"/>
              <a:defRPr>
                <a:solidFill>
                  <a:schemeClr val="lt1"/>
                </a:solidFill>
              </a:defRPr>
            </a:lvl9pPr>
          </a:lstStyle>
          <a:p/>
        </p:txBody>
      </p:sp>
      <p:sp>
        <p:nvSpPr>
          <p:cNvPr id="123" name="Google Shape;123;p2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4" name="Shape 124"/>
        <p:cNvGrpSpPr/>
        <p:nvPr/>
      </p:nvGrpSpPr>
      <p:grpSpPr>
        <a:xfrm>
          <a:off x="0" y="0"/>
          <a:ext cx="0" cy="0"/>
          <a:chOff x="0" y="0"/>
          <a:chExt cx="0" cy="0"/>
        </a:xfrm>
      </p:grpSpPr>
      <p:sp>
        <p:nvSpPr>
          <p:cNvPr id="125" name="Google Shape;125;p2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0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52" name="Google Shape;52;p1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160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1600"/>
              </a:spcBef>
              <a:spcAft>
                <a:spcPts val="160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53" name="Google Shape;53;p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ctrTitle"/>
          </p:nvPr>
        </p:nvSpPr>
        <p:spPr>
          <a:xfrm>
            <a:off x="311708" y="186325"/>
            <a:ext cx="8000338" cy="209218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200"/>
              <a:buNone/>
            </a:pPr>
            <a:r>
              <a:rPr lang="en"/>
              <a:t>HurricAne Disruption by Electrical-conversion System</a:t>
            </a:r>
            <a:endParaRPr/>
          </a:p>
          <a:p>
            <a:pPr indent="0" lvl="0" marL="0" rtl="0" algn="l">
              <a:lnSpc>
                <a:spcPct val="100000"/>
              </a:lnSpc>
              <a:spcBef>
                <a:spcPts val="0"/>
              </a:spcBef>
              <a:spcAft>
                <a:spcPts val="0"/>
              </a:spcAft>
              <a:buSzPts val="4200"/>
              <a:buNone/>
            </a:pPr>
            <a:r>
              <a:t/>
            </a:r>
            <a:endParaRPr/>
          </a:p>
        </p:txBody>
      </p:sp>
      <p:sp>
        <p:nvSpPr>
          <p:cNvPr id="131" name="Google Shape;131;p25"/>
          <p:cNvSpPr txBox="1"/>
          <p:nvPr>
            <p:ph idx="1" type="subTitle"/>
          </p:nvPr>
        </p:nvSpPr>
        <p:spPr>
          <a:xfrm>
            <a:off x="6578866" y="3740575"/>
            <a:ext cx="2253300" cy="43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100"/>
              <a:buNone/>
            </a:pPr>
            <a:r>
              <a:rPr lang="en"/>
              <a:t>Shawn Chng</a:t>
            </a:r>
            <a:endParaRPr/>
          </a:p>
          <a:p>
            <a:pPr indent="0" lvl="0" marL="0" rtl="0" algn="l">
              <a:lnSpc>
                <a:spcPct val="100000"/>
              </a:lnSpc>
              <a:spcBef>
                <a:spcPts val="0"/>
              </a:spcBef>
              <a:spcAft>
                <a:spcPts val="0"/>
              </a:spcAft>
              <a:buSzPts val="2100"/>
              <a:buNone/>
            </a:pPr>
            <a:r>
              <a:rPr lang="en"/>
              <a:t>Jovan Tan</a:t>
            </a:r>
            <a:endParaRPr/>
          </a:p>
        </p:txBody>
      </p:sp>
      <p:sp>
        <p:nvSpPr>
          <p:cNvPr id="132" name="Google Shape;132;p25"/>
          <p:cNvSpPr txBox="1"/>
          <p:nvPr/>
        </p:nvSpPr>
        <p:spPr>
          <a:xfrm>
            <a:off x="311700" y="1461425"/>
            <a:ext cx="40752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200"/>
              <a:buFont typeface="Arial"/>
              <a:buNone/>
            </a:pPr>
            <a:r>
              <a:rPr b="0" i="0" lang="en" sz="4200" u="none" cap="none" strike="noStrike">
                <a:solidFill>
                  <a:schemeClr val="lt1"/>
                </a:solidFill>
                <a:latin typeface="Roboto"/>
                <a:ea typeface="Roboto"/>
                <a:cs typeface="Roboto"/>
                <a:sym typeface="Roboto"/>
              </a:rPr>
              <a:t>(H.A.D.E.S)</a:t>
            </a:r>
            <a:endParaRPr b="0" i="0" sz="1400" u="none" cap="none" strike="noStrike">
              <a:solidFill>
                <a:srgbClr val="000000"/>
              </a:solidFill>
              <a:latin typeface="Roboto"/>
              <a:ea typeface="Roboto"/>
              <a:cs typeface="Roboto"/>
              <a:sym typeface="Roboto"/>
            </a:endParaRPr>
          </a:p>
        </p:txBody>
      </p:sp>
      <p:pic>
        <p:nvPicPr>
          <p:cNvPr descr="Animated Tornado Pictures, Image  Photos" id="133" name="Google Shape;133;p25"/>
          <p:cNvPicPr preferRelativeResize="0"/>
          <p:nvPr/>
        </p:nvPicPr>
        <p:blipFill rotWithShape="1">
          <a:blip r:embed="rId3">
            <a:alphaModFix/>
          </a:blip>
          <a:srcRect b="0" l="0" r="0" t="0"/>
          <a:stretch/>
        </p:blipFill>
        <p:spPr>
          <a:xfrm>
            <a:off x="733855" y="2889490"/>
            <a:ext cx="2135070" cy="21350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Effect filter="fade" transition="in">
                                      <p:cBhvr>
                                        <p:cTn dur="500"/>
                                        <p:tgtEl>
                                          <p:spTgt spid="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Effect filter="fade" transition="in">
                                      <p:cBhvr>
                                        <p:cTn dur="500"/>
                                        <p:tgtEl>
                                          <p:spTgt spid="13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139" name="Google Shape;139;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Background</a:t>
            </a:r>
            <a:endParaRPr/>
          </a:p>
          <a:p>
            <a:pPr indent="-342900" lvl="0" marL="457200" rtl="0" algn="l">
              <a:spcBef>
                <a:spcPts val="0"/>
              </a:spcBef>
              <a:spcAft>
                <a:spcPts val="0"/>
              </a:spcAft>
              <a:buSzPts val="1800"/>
              <a:buChar char="●"/>
            </a:pPr>
            <a:r>
              <a:rPr lang="en"/>
              <a:t>Problem</a:t>
            </a:r>
            <a:endParaRPr/>
          </a:p>
          <a:p>
            <a:pPr indent="-342900" lvl="0" marL="457200" rtl="0" algn="l">
              <a:spcBef>
                <a:spcPts val="0"/>
              </a:spcBef>
              <a:spcAft>
                <a:spcPts val="0"/>
              </a:spcAft>
              <a:buSzPts val="1800"/>
              <a:buChar char="●"/>
            </a:pPr>
            <a:r>
              <a:rPr lang="en"/>
              <a:t>Proposed Solution</a:t>
            </a:r>
            <a:endParaRPr/>
          </a:p>
          <a:p>
            <a:pPr indent="-342900" lvl="0" marL="457200" rtl="0" algn="l">
              <a:spcBef>
                <a:spcPts val="0"/>
              </a:spcBef>
              <a:spcAft>
                <a:spcPts val="0"/>
              </a:spcAft>
              <a:buSzPts val="1800"/>
              <a:buChar char="●"/>
            </a:pPr>
            <a:r>
              <a:rPr lang="en"/>
              <a:t>Benefits</a:t>
            </a:r>
            <a:endParaRPr/>
          </a:p>
          <a:p>
            <a:pPr indent="-342900" lvl="0" marL="457200" rtl="0" algn="l">
              <a:spcBef>
                <a:spcPts val="0"/>
              </a:spcBef>
              <a:spcAft>
                <a:spcPts val="0"/>
              </a:spcAft>
              <a:buSzPts val="1800"/>
              <a:buChar char="●"/>
            </a:pPr>
            <a:r>
              <a:rPr lang="en"/>
              <a:t>Conclusion </a:t>
            </a:r>
            <a:endParaRPr/>
          </a:p>
        </p:txBody>
      </p:sp>
      <p:pic>
        <p:nvPicPr>
          <p:cNvPr id="140" name="Google Shape;140;p26"/>
          <p:cNvPicPr preferRelativeResize="0"/>
          <p:nvPr/>
        </p:nvPicPr>
        <p:blipFill>
          <a:blip r:embed="rId3">
            <a:alphaModFix/>
          </a:blip>
          <a:stretch>
            <a:fillRect/>
          </a:stretch>
        </p:blipFill>
        <p:spPr>
          <a:xfrm>
            <a:off x="4493325" y="10787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1000"/>
                                        <p:tgtEl>
                                          <p:spTgt spid="138"/>
                                        </p:tgtEl>
                                        <p:attrNameLst>
                                          <p:attrName>ppt_w</p:attrName>
                                        </p:attrNameLst>
                                      </p:cBhvr>
                                      <p:tavLst>
                                        <p:tav fmla="" tm="0">
                                          <p:val>
                                            <p:strVal val="0"/>
                                          </p:val>
                                        </p:tav>
                                        <p:tav fmla="" tm="100000">
                                          <p:val>
                                            <p:strVal val="#ppt_w"/>
                                          </p:val>
                                        </p:tav>
                                      </p:tavLst>
                                    </p:anim>
                                    <p:anim calcmode="lin" valueType="num">
                                      <p:cBhvr additive="base">
                                        <p:cTn dur="1000"/>
                                        <p:tgtEl>
                                          <p:spTgt spid="138"/>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 calcmode="lin" valueType="num">
                                      <p:cBhvr additive="base">
                                        <p:cTn dur="1000"/>
                                        <p:tgtEl>
                                          <p:spTgt spid="1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 calcmode="lin" valueType="num">
                                      <p:cBhvr additive="base">
                                        <p:cTn dur="1000"/>
                                        <p:tgtEl>
                                          <p:spTgt spid="1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 calcmode="lin" valueType="num">
                                      <p:cBhvr additive="base">
                                        <p:cTn dur="1000"/>
                                        <p:tgtEl>
                                          <p:spTgt spid="13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anim calcmode="lin" valueType="num">
                                      <p:cBhvr additive="base">
                                        <p:cTn dur="1000"/>
                                        <p:tgtEl>
                                          <p:spTgt spid="13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anim calcmode="lin" valueType="num">
                                      <p:cBhvr additive="base">
                                        <p:cTn dur="1000"/>
                                        <p:tgtEl>
                                          <p:spTgt spid="13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a:t>
            </a:r>
            <a:endParaRPr/>
          </a:p>
        </p:txBody>
      </p:sp>
      <p:pic>
        <p:nvPicPr>
          <p:cNvPr id="146" name="Google Shape;146;p27"/>
          <p:cNvPicPr preferRelativeResize="0"/>
          <p:nvPr/>
        </p:nvPicPr>
        <p:blipFill rotWithShape="1">
          <a:blip r:embed="rId3">
            <a:alphaModFix/>
          </a:blip>
          <a:srcRect b="4314" l="1458" r="0" t="15654"/>
          <a:stretch/>
        </p:blipFill>
        <p:spPr>
          <a:xfrm>
            <a:off x="3918175" y="0"/>
            <a:ext cx="5225824" cy="4637501"/>
          </a:xfrm>
          <a:prstGeom prst="rect">
            <a:avLst/>
          </a:prstGeom>
          <a:noFill/>
          <a:ln>
            <a:noFill/>
          </a:ln>
        </p:spPr>
      </p:pic>
      <p:sp>
        <p:nvSpPr>
          <p:cNvPr id="147" name="Google Shape;147;p27"/>
          <p:cNvSpPr txBox="1"/>
          <p:nvPr/>
        </p:nvSpPr>
        <p:spPr>
          <a:xfrm>
            <a:off x="311700" y="1017751"/>
            <a:ext cx="3321600" cy="9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a:ea typeface="Roboto"/>
                <a:cs typeface="Roboto"/>
                <a:sym typeface="Roboto"/>
              </a:rPr>
              <a:t>Excerpt from website:</a:t>
            </a:r>
            <a:endParaRPr sz="1600">
              <a:latin typeface="Roboto"/>
              <a:ea typeface="Roboto"/>
              <a:cs typeface="Roboto"/>
              <a:sym typeface="Roboto"/>
            </a:endParaRPr>
          </a:p>
          <a:p>
            <a:pPr indent="0" lvl="0" marL="0" rtl="0" algn="l">
              <a:spcBef>
                <a:spcPts val="0"/>
              </a:spcBef>
              <a:spcAft>
                <a:spcPts val="0"/>
              </a:spcAft>
              <a:buNone/>
            </a:pPr>
            <a:r>
              <a:rPr i="1" lang="en" sz="1600">
                <a:latin typeface="Roboto"/>
                <a:ea typeface="Roboto"/>
                <a:cs typeface="Roboto"/>
                <a:sym typeface="Roboto"/>
              </a:rPr>
              <a:t>"The environment for all such storms has changed </a:t>
            </a:r>
            <a:r>
              <a:rPr b="1" i="1" lang="en" sz="1600">
                <a:highlight>
                  <a:srgbClr val="00FF00"/>
                </a:highlight>
                <a:latin typeface="Roboto"/>
                <a:ea typeface="Roboto"/>
                <a:cs typeface="Roboto"/>
                <a:sym typeface="Roboto"/>
              </a:rPr>
              <a:t>because of climate change</a:t>
            </a:r>
            <a:r>
              <a:rPr i="1" lang="en" sz="1600">
                <a:latin typeface="Roboto"/>
                <a:ea typeface="Roboto"/>
                <a:cs typeface="Roboto"/>
                <a:sym typeface="Roboto"/>
              </a:rPr>
              <a:t>. The oceans are warmer, especially in the upper 100 meters, which is most important for such storms," Trenberth said. "This makes available more energy via water vapor for the storms and makes for more activity: </a:t>
            </a:r>
            <a:r>
              <a:rPr b="1" i="1" lang="en" sz="1600">
                <a:highlight>
                  <a:srgbClr val="00FF00"/>
                </a:highlight>
                <a:latin typeface="Roboto"/>
                <a:ea typeface="Roboto"/>
                <a:cs typeface="Roboto"/>
                <a:sym typeface="Roboto"/>
              </a:rPr>
              <a:t>more intensity, bigger and longer lasting storms, with heavier rainfalls</a:t>
            </a:r>
            <a:r>
              <a:rPr i="1" lang="en" sz="1600">
                <a:latin typeface="Roboto"/>
                <a:ea typeface="Roboto"/>
                <a:cs typeface="Roboto"/>
                <a:sym typeface="Roboto"/>
              </a:rPr>
              <a:t>."</a:t>
            </a:r>
            <a:endParaRPr i="1" sz="1600">
              <a:latin typeface="Roboto"/>
              <a:ea typeface="Roboto"/>
              <a:cs typeface="Roboto"/>
              <a:sym typeface="Roboto"/>
            </a:endParaRPr>
          </a:p>
          <a:p>
            <a:pPr indent="0" lvl="0" marL="0" rtl="0" algn="l">
              <a:spcBef>
                <a:spcPts val="0"/>
              </a:spcBef>
              <a:spcAft>
                <a:spcPts val="0"/>
              </a:spcAft>
              <a:buNone/>
            </a:pPr>
            <a:r>
              <a:t/>
            </a:r>
            <a:endParaRPr sz="1600">
              <a:latin typeface="Roboto"/>
              <a:ea typeface="Roboto"/>
              <a:cs typeface="Roboto"/>
              <a:sym typeface="Roboto"/>
            </a:endParaRPr>
          </a:p>
          <a:p>
            <a:pPr indent="0" lvl="0" marL="0" rtl="0" algn="l">
              <a:spcBef>
                <a:spcPts val="0"/>
              </a:spcBef>
              <a:spcAft>
                <a:spcPts val="0"/>
              </a:spcAft>
              <a:buNone/>
            </a:pPr>
            <a:r>
              <a:t/>
            </a:r>
            <a:endParaRPr sz="1600">
              <a:latin typeface="Roboto"/>
              <a:ea typeface="Roboto"/>
              <a:cs typeface="Roboto"/>
              <a:sym typeface="Roboto"/>
            </a:endParaRPr>
          </a:p>
        </p:txBody>
      </p:sp>
      <p:pic>
        <p:nvPicPr>
          <p:cNvPr id="148" name="Google Shape;148;p27"/>
          <p:cNvPicPr preferRelativeResize="0"/>
          <p:nvPr/>
        </p:nvPicPr>
        <p:blipFill rotWithShape="1">
          <a:blip r:embed="rId3">
            <a:alphaModFix/>
          </a:blip>
          <a:srcRect b="83387" l="1244" r="5202" t="1277"/>
          <a:stretch/>
        </p:blipFill>
        <p:spPr>
          <a:xfrm>
            <a:off x="0" y="1417275"/>
            <a:ext cx="9144000" cy="16377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1000"/>
                                        <p:tgtEl>
                                          <p:spTgt spid="1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8"/>
                                        </p:tgtEl>
                                        <p:attrNameLst>
                                          <p:attrName>style.visibility</p:attrName>
                                        </p:attrNameLst>
                                      </p:cBhvr>
                                      <p:to>
                                        <p:strVal val="visible"/>
                                      </p:to>
                                    </p:set>
                                    <p:anim calcmode="lin" valueType="num">
                                      <p:cBhvr additive="base">
                                        <p:cTn dur="1000"/>
                                        <p:tgtEl>
                                          <p:spTgt spid="14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148"/>
                                        </p:tgtEl>
                                        <p:attrNameLst>
                                          <p:attrName>ppt_x</p:attrName>
                                        </p:attrNameLst>
                                      </p:cBhvr>
                                      <p:tavLst>
                                        <p:tav fmla="" tm="0">
                                          <p:val>
                                            <p:strVal val="#ppt_x"/>
                                          </p:val>
                                        </p:tav>
                                        <p:tav fmla="" tm="100000">
                                          <p:val>
                                            <p:strVal val="#ppt_x+1"/>
                                          </p:val>
                                        </p:tav>
                                      </p:tavLst>
                                    </p:anim>
                                    <p:set>
                                      <p:cBhvr>
                                        <p:cTn dur="1" fill="hold">
                                          <p:stCondLst>
                                            <p:cond delay="1000"/>
                                          </p:stCondLst>
                                        </p:cTn>
                                        <p:tgtEl>
                                          <p:spTgt spid="1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1000"/>
                                        <p:tgtEl>
                                          <p:spTgt spid="145"/>
                                        </p:tgtEl>
                                        <p:attrNameLst>
                                          <p:attrName>ppt_x</p:attrName>
                                        </p:attrNameLst>
                                      </p:cBhvr>
                                      <p:tavLst>
                                        <p:tav fmla="" tm="0">
                                          <p:val>
                                            <p:strVal val="#ppt_x"/>
                                          </p:val>
                                        </p:tav>
                                        <p:tav fmla="" tm="100000">
                                          <p:val>
                                            <p:strVal val="#ppt_x-1"/>
                                          </p:val>
                                        </p:tav>
                                      </p:tavLst>
                                    </p:anim>
                                    <p:set>
                                      <p:cBhvr>
                                        <p:cTn dur="1" fill="hold">
                                          <p:stCondLst>
                                            <p:cond delay="1000"/>
                                          </p:stCondLst>
                                        </p:cTn>
                                        <p:tgtEl>
                                          <p:spTgt spid="14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46"/>
                                        </p:tgtEl>
                                      </p:cBhvr>
                                    </p:animEffect>
                                    <p:set>
                                      <p:cBhvr>
                                        <p:cTn dur="1" fill="hold">
                                          <p:stCondLst>
                                            <p:cond delay="1000"/>
                                          </p:stCondLst>
                                        </p:cTn>
                                        <p:tgtEl>
                                          <p:spTgt spid="14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47"/>
                                        </p:tgtEl>
                                      </p:cBhvr>
                                    </p:animEffect>
                                    <p:set>
                                      <p:cBhvr>
                                        <p:cTn dur="1" fill="hold">
                                          <p:stCondLst>
                                            <p:cond delay="1000"/>
                                          </p:stCondLst>
                                        </p:cTn>
                                        <p:tgtEl>
                                          <p:spTgt spid="1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8"/>
          <p:cNvPicPr preferRelativeResize="0"/>
          <p:nvPr/>
        </p:nvPicPr>
        <p:blipFill rotWithShape="1">
          <a:blip r:embed="rId3">
            <a:alphaModFix/>
          </a:blip>
          <a:srcRect b="14288" l="0" r="-786" t="0"/>
          <a:stretch/>
        </p:blipFill>
        <p:spPr>
          <a:xfrm>
            <a:off x="311700" y="88775"/>
            <a:ext cx="6968999" cy="4885900"/>
          </a:xfrm>
          <a:prstGeom prst="rect">
            <a:avLst/>
          </a:prstGeom>
          <a:noFill/>
          <a:ln>
            <a:noFill/>
          </a:ln>
        </p:spPr>
      </p:pic>
      <p:pic>
        <p:nvPicPr>
          <p:cNvPr id="154" name="Google Shape;154;p28"/>
          <p:cNvPicPr preferRelativeResize="0"/>
          <p:nvPr/>
        </p:nvPicPr>
        <p:blipFill rotWithShape="1">
          <a:blip r:embed="rId4">
            <a:alphaModFix/>
          </a:blip>
          <a:srcRect b="23489" l="0" r="0" t="0"/>
          <a:stretch/>
        </p:blipFill>
        <p:spPr>
          <a:xfrm>
            <a:off x="0" y="88775"/>
            <a:ext cx="7379799" cy="4885900"/>
          </a:xfrm>
          <a:prstGeom prst="rect">
            <a:avLst/>
          </a:prstGeom>
          <a:noFill/>
          <a:ln>
            <a:noFill/>
          </a:ln>
        </p:spPr>
      </p:pic>
      <p:sp>
        <p:nvSpPr>
          <p:cNvPr id="155" name="Google Shape;155;p28"/>
          <p:cNvSpPr txBox="1"/>
          <p:nvPr/>
        </p:nvSpPr>
        <p:spPr>
          <a:xfrm>
            <a:off x="7337674" y="1968900"/>
            <a:ext cx="18063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Power dissipation index: relative minimum strength of storm system</a:t>
            </a:r>
            <a:endParaRPr>
              <a:latin typeface="Roboto"/>
              <a:ea typeface="Roboto"/>
              <a:cs typeface="Roboto"/>
              <a:sym typeface="Roboto"/>
            </a:endParaRPr>
          </a:p>
        </p:txBody>
      </p:sp>
      <p:sp>
        <p:nvSpPr>
          <p:cNvPr id="156" name="Google Shape;156;p28"/>
          <p:cNvSpPr txBox="1"/>
          <p:nvPr/>
        </p:nvSpPr>
        <p:spPr>
          <a:xfrm>
            <a:off x="5617500" y="4690275"/>
            <a:ext cx="1032900" cy="28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i="1" lang="en" sz="800"/>
              <a:t>EPA</a:t>
            </a:r>
            <a:r>
              <a:rPr lang="en" sz="800"/>
              <a:t>, 17-Dec-2016</a:t>
            </a:r>
            <a:endParaRPr sz="8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1000"/>
                                        <p:tgtEl>
                                          <p:spTgt spid="1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6"/>
                                        </p:tgtEl>
                                        <p:attrNameLst>
                                          <p:attrName>style.visibility</p:attrName>
                                        </p:attrNameLst>
                                      </p:cBhvr>
                                      <p:to>
                                        <p:strVal val="visible"/>
                                      </p:to>
                                    </p:set>
                                    <p:anim calcmode="lin" valueType="num">
                                      <p:cBhvr additive="base">
                                        <p:cTn dur="1000"/>
                                        <p:tgtEl>
                                          <p:spTgt spid="1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53"/>
                                        </p:tgtEl>
                                      </p:cBhvr>
                                    </p:animEffect>
                                    <p:set>
                                      <p:cBhvr>
                                        <p:cTn dur="1" fill="hold">
                                          <p:stCondLst>
                                            <p:cond delay="1000"/>
                                          </p:stCondLst>
                                        </p:cTn>
                                        <p:tgtEl>
                                          <p:spTgt spid="1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55"/>
                                        </p:tgtEl>
                                      </p:cBhvr>
                                    </p:animEffect>
                                    <p:set>
                                      <p:cBhvr>
                                        <p:cTn dur="1" fill="hold">
                                          <p:stCondLst>
                                            <p:cond delay="1000"/>
                                          </p:stCondLst>
                                        </p:cTn>
                                        <p:tgtEl>
                                          <p:spTgt spid="15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9"/>
          <p:cNvPicPr preferRelativeResize="0"/>
          <p:nvPr/>
        </p:nvPicPr>
        <p:blipFill rotWithShape="1">
          <a:blip r:embed="rId3">
            <a:alphaModFix/>
          </a:blip>
          <a:srcRect b="0" l="0" r="0" t="0"/>
          <a:stretch/>
        </p:blipFill>
        <p:spPr>
          <a:xfrm>
            <a:off x="201850" y="152400"/>
            <a:ext cx="7085949" cy="4853400"/>
          </a:xfrm>
          <a:prstGeom prst="rect">
            <a:avLst/>
          </a:prstGeom>
          <a:noFill/>
          <a:ln>
            <a:noFill/>
          </a:ln>
        </p:spPr>
      </p:pic>
      <p:pic>
        <p:nvPicPr>
          <p:cNvPr id="162" name="Google Shape;162;p29"/>
          <p:cNvPicPr preferRelativeResize="0"/>
          <p:nvPr/>
        </p:nvPicPr>
        <p:blipFill>
          <a:blip r:embed="rId4">
            <a:alphaModFix/>
          </a:blip>
          <a:stretch>
            <a:fillRect/>
          </a:stretch>
        </p:blipFill>
        <p:spPr>
          <a:xfrm>
            <a:off x="6321275" y="1301335"/>
            <a:ext cx="6223900" cy="4771650"/>
          </a:xfrm>
          <a:prstGeom prst="rect">
            <a:avLst/>
          </a:prstGeom>
          <a:noFill/>
          <a:ln>
            <a:noFill/>
          </a:ln>
        </p:spPr>
      </p:pic>
      <p:sp>
        <p:nvSpPr>
          <p:cNvPr id="163" name="Google Shape;163;p29"/>
          <p:cNvSpPr txBox="1"/>
          <p:nvPr/>
        </p:nvSpPr>
        <p:spPr>
          <a:xfrm>
            <a:off x="121100" y="1301325"/>
            <a:ext cx="2799600" cy="26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Damage caused by Hurricane Katrina:</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300,000 homes damaged/destroyed</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1330 deaths</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$96 billion in property damage</a:t>
            </a:r>
            <a:endParaRPr sz="1800">
              <a:latin typeface="Roboto"/>
              <a:ea typeface="Roboto"/>
              <a:cs typeface="Roboto"/>
              <a:sym typeface="Roboto"/>
            </a:endParaRPr>
          </a:p>
        </p:txBody>
      </p:sp>
      <p:sp>
        <p:nvSpPr>
          <p:cNvPr id="164" name="Google Shape;16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pic>
        <p:nvPicPr>
          <p:cNvPr id="165" name="Google Shape;165;p29"/>
          <p:cNvPicPr preferRelativeResize="0"/>
          <p:nvPr/>
        </p:nvPicPr>
        <p:blipFill>
          <a:blip r:embed="rId5">
            <a:alphaModFix/>
          </a:blip>
          <a:stretch>
            <a:fillRect/>
          </a:stretch>
        </p:blipFill>
        <p:spPr>
          <a:xfrm>
            <a:off x="-5332125" y="2205150"/>
            <a:ext cx="6914978" cy="4771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1000"/>
                                        <p:tgtEl>
                                          <p:spTgt spid="16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64"/>
                                        </p:tgtEl>
                                        <p:attrNameLst>
                                          <p:attrName>ppt_y</p:attrName>
                                        </p:attrNameLst>
                                      </p:cBhvr>
                                      <p:tavLst>
                                        <p:tav fmla="" tm="0">
                                          <p:val>
                                            <p:strVal val="#ppt_y"/>
                                          </p:val>
                                        </p:tav>
                                        <p:tav fmla="" tm="100000">
                                          <p:val>
                                            <p:strVal val="#ppt_y-1"/>
                                          </p:val>
                                        </p:tav>
                                      </p:tavLst>
                                    </p:anim>
                                    <p:set>
                                      <p:cBhvr>
                                        <p:cTn dur="1" fill="hold">
                                          <p:stCondLst>
                                            <p:cond delay="10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1000"/>
                                        <p:tgtEl>
                                          <p:spTgt spid="16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1000"/>
                                        <p:tgtEl>
                                          <p:spTgt spid="165"/>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61"/>
                                        </p:tgtEl>
                                      </p:cBhvr>
                                    </p:animEffect>
                                    <p:set>
                                      <p:cBhvr>
                                        <p:cTn dur="1" fill="hold">
                                          <p:stCondLst>
                                            <p:cond delay="1000"/>
                                          </p:stCondLst>
                                        </p:cTn>
                                        <p:tgtEl>
                                          <p:spTgt spid="1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1000"/>
                                        <p:tgtEl>
                                          <p:spTgt spid="165"/>
                                        </p:tgtEl>
                                        <p:attrNameLst>
                                          <p:attrName>ppt_x</p:attrName>
                                        </p:attrNameLst>
                                      </p:cBhvr>
                                      <p:tavLst>
                                        <p:tav fmla="" tm="0">
                                          <p:val>
                                            <p:strVal val="#ppt_x"/>
                                          </p:val>
                                        </p:tav>
                                        <p:tav fmla="" tm="100000">
                                          <p:val>
                                            <p:strVal val="#ppt_x-1"/>
                                          </p:val>
                                        </p:tav>
                                      </p:tavLst>
                                    </p:anim>
                                    <p:set>
                                      <p:cBhvr>
                                        <p:cTn dur="1" fill="hold">
                                          <p:stCondLst>
                                            <p:cond delay="1000"/>
                                          </p:stCondLst>
                                        </p:cTn>
                                        <p:tgtEl>
                                          <p:spTgt spid="165"/>
                                        </p:tgtEl>
                                        <p:attrNameLst>
                                          <p:attrName>style.visibility</p:attrName>
                                        </p:attrNameLst>
                                      </p:cBhvr>
                                      <p:to>
                                        <p:strVal val="hidden"/>
                                      </p:to>
                                    </p:set>
                                  </p:childTnLst>
                                </p:cTn>
                              </p:par>
                              <p:par>
                                <p:cTn fill="hold" nodeType="withEffect" presetClass="entr" presetID="2" presetSubtype="2">
                                  <p:stCondLst>
                                    <p:cond delay="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1000"/>
                                        <p:tgtEl>
                                          <p:spTgt spid="1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anim calcmode="lin" valueType="num">
                                      <p:cBhvr additive="base">
                                        <p:cTn dur="1000"/>
                                        <p:tgtEl>
                                          <p:spTgt spid="16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3">
                                            <p:txEl>
                                              <p:pRg end="1" st="1"/>
                                            </p:txEl>
                                          </p:spTgt>
                                        </p:tgtEl>
                                        <p:attrNameLst>
                                          <p:attrName>style.visibility</p:attrName>
                                        </p:attrNameLst>
                                      </p:cBhvr>
                                      <p:to>
                                        <p:strVal val="visible"/>
                                      </p:to>
                                    </p:set>
                                    <p:anim calcmode="lin" valueType="num">
                                      <p:cBhvr additive="base">
                                        <p:cTn dur="1000"/>
                                        <p:tgtEl>
                                          <p:spTgt spid="16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3">
                                            <p:txEl>
                                              <p:pRg end="2" st="2"/>
                                            </p:txEl>
                                          </p:spTgt>
                                        </p:tgtEl>
                                        <p:attrNameLst>
                                          <p:attrName>style.visibility</p:attrName>
                                        </p:attrNameLst>
                                      </p:cBhvr>
                                      <p:to>
                                        <p:strVal val="visible"/>
                                      </p:to>
                                    </p:set>
                                    <p:anim calcmode="lin" valueType="num">
                                      <p:cBhvr additive="base">
                                        <p:cTn dur="1000"/>
                                        <p:tgtEl>
                                          <p:spTgt spid="16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3">
                                            <p:txEl>
                                              <p:pRg end="3" st="3"/>
                                            </p:txEl>
                                          </p:spTgt>
                                        </p:tgtEl>
                                        <p:attrNameLst>
                                          <p:attrName>style.visibility</p:attrName>
                                        </p:attrNameLst>
                                      </p:cBhvr>
                                      <p:to>
                                        <p:strVal val="visible"/>
                                      </p:to>
                                    </p:set>
                                    <p:anim calcmode="lin" valueType="num">
                                      <p:cBhvr additive="base">
                                        <p:cTn dur="1000"/>
                                        <p:tgtEl>
                                          <p:spTgt spid="16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 technology </a:t>
            </a:r>
            <a:endParaRPr/>
          </a:p>
        </p:txBody>
      </p:sp>
      <p:sp>
        <p:nvSpPr>
          <p:cNvPr id="171" name="Google Shape;171;p30"/>
          <p:cNvSpPr txBox="1"/>
          <p:nvPr>
            <p:ph idx="1" type="body"/>
          </p:nvPr>
        </p:nvSpPr>
        <p:spPr>
          <a:xfrm>
            <a:off x="311700" y="1229875"/>
            <a:ext cx="3847500" cy="333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Stationary (eg. mounted on the floor or in the ocean)</a:t>
            </a:r>
            <a:endParaRPr/>
          </a:p>
          <a:p>
            <a:pPr indent="-342900" lvl="0" marL="457200" rtl="0" algn="l">
              <a:spcBef>
                <a:spcPts val="0"/>
              </a:spcBef>
              <a:spcAft>
                <a:spcPts val="0"/>
              </a:spcAft>
              <a:buSzPts val="1800"/>
              <a:buChar char="●"/>
            </a:pPr>
            <a:r>
              <a:rPr lang="en"/>
              <a:t>Able to withstand strong winds.</a:t>
            </a:r>
            <a:endParaRPr/>
          </a:p>
        </p:txBody>
      </p:sp>
      <p:pic>
        <p:nvPicPr>
          <p:cNvPr id="172" name="Google Shape;172;p30"/>
          <p:cNvPicPr preferRelativeResize="0"/>
          <p:nvPr/>
        </p:nvPicPr>
        <p:blipFill>
          <a:blip r:embed="rId3">
            <a:alphaModFix/>
          </a:blip>
          <a:stretch>
            <a:fillRect/>
          </a:stretch>
        </p:blipFill>
        <p:spPr>
          <a:xfrm>
            <a:off x="4217325" y="557925"/>
            <a:ext cx="4926676" cy="2768075"/>
          </a:xfrm>
          <a:prstGeom prst="rect">
            <a:avLst/>
          </a:prstGeom>
          <a:noFill/>
          <a:ln>
            <a:noFill/>
          </a:ln>
        </p:spPr>
      </p:pic>
      <p:pic>
        <p:nvPicPr>
          <p:cNvPr id="173" name="Google Shape;173;p30"/>
          <p:cNvPicPr preferRelativeResize="0"/>
          <p:nvPr/>
        </p:nvPicPr>
        <p:blipFill>
          <a:blip r:embed="rId4">
            <a:alphaModFix/>
          </a:blip>
          <a:stretch>
            <a:fillRect/>
          </a:stretch>
        </p:blipFill>
        <p:spPr>
          <a:xfrm>
            <a:off x="311697" y="2232925"/>
            <a:ext cx="3545926" cy="2659450"/>
          </a:xfrm>
          <a:prstGeom prst="rect">
            <a:avLst/>
          </a:prstGeom>
          <a:noFill/>
          <a:ln>
            <a:noFill/>
          </a:ln>
        </p:spPr>
      </p:pic>
      <p:sp>
        <p:nvSpPr>
          <p:cNvPr id="174" name="Google Shape;174;p30"/>
          <p:cNvSpPr txBox="1"/>
          <p:nvPr/>
        </p:nvSpPr>
        <p:spPr>
          <a:xfrm>
            <a:off x="3287275" y="4299650"/>
            <a:ext cx="2901000" cy="6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Ocean Power Technologies’ PB3 PowerBuoy</a:t>
            </a:r>
            <a:endParaRPr>
              <a:latin typeface="Roboto"/>
              <a:ea typeface="Roboto"/>
              <a:cs typeface="Roboto"/>
              <a:sym typeface="Roboto"/>
            </a:endParaRPr>
          </a:p>
        </p:txBody>
      </p:sp>
      <p:sp>
        <p:nvSpPr>
          <p:cNvPr id="175" name="Google Shape;175;p30"/>
          <p:cNvSpPr txBox="1"/>
          <p:nvPr/>
        </p:nvSpPr>
        <p:spPr>
          <a:xfrm>
            <a:off x="4217325" y="3397650"/>
            <a:ext cx="4103400" cy="4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Challenergy’s typhoon-proof turbines</a:t>
            </a:r>
            <a:endParaRPr/>
          </a:p>
          <a:p>
            <a:pPr indent="0" lvl="0" marL="0" rtl="0" algn="l">
              <a:spcBef>
                <a:spcPts val="0"/>
              </a:spcBef>
              <a:spcAft>
                <a:spcPts val="0"/>
              </a:spcAft>
              <a:buNone/>
            </a:pPr>
            <a:r>
              <a:rPr lang="en"/>
              <a:t>(Image credit: Challenergy)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70"/>
                                        </p:tgtEl>
                                        <p:attrNameLst>
                                          <p:attrName>style.visibility</p:attrName>
                                        </p:attrNameLst>
                                      </p:cBhvr>
                                      <p:to>
                                        <p:strVal val="visible"/>
                                      </p:to>
                                    </p:set>
                                    <p:anim calcmode="lin" valueType="num">
                                      <p:cBhvr additive="base">
                                        <p:cTn dur="500"/>
                                        <p:tgtEl>
                                          <p:spTgt spid="17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72"/>
                                        </p:tgtEl>
                                        <p:attrNameLst>
                                          <p:attrName>style.visibility</p:attrName>
                                        </p:attrNameLst>
                                      </p:cBhvr>
                                      <p:to>
                                        <p:strVal val="visible"/>
                                      </p:to>
                                    </p:set>
                                    <p:anim calcmode="lin" valueType="num">
                                      <p:cBhvr additive="base">
                                        <p:cTn dur="1000"/>
                                        <p:tgtEl>
                                          <p:spTgt spid="17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173"/>
                                        </p:tgtEl>
                                        <p:attrNameLst>
                                          <p:attrName>style.visibility</p:attrName>
                                        </p:attrNameLst>
                                      </p:cBhvr>
                                      <p:to>
                                        <p:strVal val="visible"/>
                                      </p:to>
                                    </p:set>
                                    <p:anim calcmode="lin" valueType="num">
                                      <p:cBhvr additive="base">
                                        <p:cTn dur="1000"/>
                                        <p:tgtEl>
                                          <p:spTgt spid="1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4"/>
                                        </p:tgtEl>
                                        <p:attrNameLst>
                                          <p:attrName>style.visibility</p:attrName>
                                        </p:attrNameLst>
                                      </p:cBhvr>
                                      <p:to>
                                        <p:strVal val="visible"/>
                                      </p:to>
                                    </p:set>
                                    <p:anim calcmode="lin" valueType="num">
                                      <p:cBhvr additive="base">
                                        <p:cTn dur="1000"/>
                                        <p:tgtEl>
                                          <p:spTgt spid="17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1"/>
                                        </p:tgtEl>
                                        <p:attrNameLst>
                                          <p:attrName>style.visibility</p:attrName>
                                        </p:attrNameLst>
                                      </p:cBhvr>
                                      <p:to>
                                        <p:strVal val="visible"/>
                                      </p:to>
                                    </p:set>
                                    <p:anim calcmode="lin" valueType="num">
                                      <p:cBhvr additive="base">
                                        <p:cTn dur="1000"/>
                                        <p:tgtEl>
                                          <p:spTgt spid="17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Solution (H.A.D.E.S)</a:t>
            </a:r>
            <a:endParaRPr/>
          </a:p>
        </p:txBody>
      </p:sp>
      <p:sp>
        <p:nvSpPr>
          <p:cNvPr id="181" name="Google Shape;181;p31"/>
          <p:cNvSpPr txBox="1"/>
          <p:nvPr>
            <p:ph idx="1" type="body"/>
          </p:nvPr>
        </p:nvSpPr>
        <p:spPr>
          <a:xfrm>
            <a:off x="5250000" y="902242"/>
            <a:ext cx="3894000" cy="1214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solidFill>
                  <a:srgbClr val="0000FF"/>
                </a:solidFill>
              </a:rPr>
              <a:t>Ability to ‘chase’ </a:t>
            </a:r>
            <a:r>
              <a:rPr lang="en"/>
              <a:t>the hurricane.</a:t>
            </a:r>
            <a:endParaRPr/>
          </a:p>
          <a:p>
            <a:pPr indent="-342900" lvl="0" marL="457200" rtl="0" algn="l">
              <a:spcBef>
                <a:spcPts val="0"/>
              </a:spcBef>
              <a:spcAft>
                <a:spcPts val="0"/>
              </a:spcAft>
              <a:buSzPts val="1800"/>
              <a:buChar char="●"/>
            </a:pPr>
            <a:r>
              <a:rPr lang="en">
                <a:solidFill>
                  <a:srgbClr val="0000FF"/>
                </a:solidFill>
              </a:rPr>
              <a:t>Continuously</a:t>
            </a:r>
            <a:r>
              <a:rPr lang="en">
                <a:solidFill>
                  <a:srgbClr val="FFFF00"/>
                </a:solidFill>
              </a:rPr>
              <a:t> </a:t>
            </a:r>
            <a:r>
              <a:rPr lang="en"/>
              <a:t>reducing the energy of the hurricane.</a:t>
            </a:r>
            <a:endParaRPr/>
          </a:p>
          <a:p>
            <a:pPr indent="0" lvl="0" marL="0" rtl="0" algn="l">
              <a:spcBef>
                <a:spcPts val="1600"/>
              </a:spcBef>
              <a:spcAft>
                <a:spcPts val="1600"/>
              </a:spcAft>
              <a:buNone/>
            </a:pPr>
            <a:r>
              <a:t/>
            </a:r>
            <a:endParaRPr/>
          </a:p>
        </p:txBody>
      </p:sp>
      <p:pic>
        <p:nvPicPr>
          <p:cNvPr id="182" name="Google Shape;182;p31"/>
          <p:cNvPicPr preferRelativeResize="0"/>
          <p:nvPr/>
        </p:nvPicPr>
        <p:blipFill>
          <a:blip r:embed="rId3">
            <a:alphaModFix/>
          </a:blip>
          <a:stretch>
            <a:fillRect/>
          </a:stretch>
        </p:blipFill>
        <p:spPr>
          <a:xfrm>
            <a:off x="-10" y="1002874"/>
            <a:ext cx="5149435" cy="3137775"/>
          </a:xfrm>
          <a:prstGeom prst="rect">
            <a:avLst/>
          </a:prstGeom>
          <a:noFill/>
          <a:ln>
            <a:noFill/>
          </a:ln>
        </p:spPr>
      </p:pic>
      <p:sp>
        <p:nvSpPr>
          <p:cNvPr id="183" name="Google Shape;183;p31"/>
          <p:cNvSpPr txBox="1"/>
          <p:nvPr/>
        </p:nvSpPr>
        <p:spPr>
          <a:xfrm>
            <a:off x="5250000" y="1937275"/>
            <a:ext cx="3894000" cy="1914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Char char="●"/>
            </a:pPr>
            <a:r>
              <a:rPr lang="en" sz="1800">
                <a:solidFill>
                  <a:srgbClr val="0000FF"/>
                </a:solidFill>
              </a:rPr>
              <a:t>Law of conservation of energy</a:t>
            </a:r>
            <a:r>
              <a:rPr lang="en" sz="1800">
                <a:solidFill>
                  <a:schemeClr val="dk2"/>
                </a:solidFill>
              </a:rPr>
              <a:t> - In a closed system, energy cannot be created or destroyed, it can only be converted from one form to another.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1000"/>
                                        <p:tgtEl>
                                          <p:spTgt spid="18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1000"/>
                                        <p:tgtEl>
                                          <p:spTgt spid="18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1500"/>
                                        <p:tgtEl>
                                          <p:spTgt spid="18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Deployment</a:t>
            </a:r>
            <a:endParaRPr/>
          </a:p>
        </p:txBody>
      </p:sp>
      <p:pic>
        <p:nvPicPr>
          <p:cNvPr id="189" name="Google Shape;189;p32"/>
          <p:cNvPicPr preferRelativeResize="0"/>
          <p:nvPr/>
        </p:nvPicPr>
        <p:blipFill>
          <a:blip r:embed="rId3">
            <a:alphaModFix/>
          </a:blip>
          <a:stretch>
            <a:fillRect/>
          </a:stretch>
        </p:blipFill>
        <p:spPr>
          <a:xfrm>
            <a:off x="1135450" y="1017800"/>
            <a:ext cx="5334101" cy="3541674"/>
          </a:xfrm>
          <a:prstGeom prst="rect">
            <a:avLst/>
          </a:prstGeom>
          <a:noFill/>
          <a:ln>
            <a:noFill/>
          </a:ln>
        </p:spPr>
      </p:pic>
      <p:sp>
        <p:nvSpPr>
          <p:cNvPr id="190" name="Google Shape;190;p32"/>
          <p:cNvSpPr txBox="1"/>
          <p:nvPr/>
        </p:nvSpPr>
        <p:spPr>
          <a:xfrm>
            <a:off x="833800" y="1109075"/>
            <a:ext cx="1386300" cy="6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STEP 1:</a:t>
            </a:r>
            <a:endParaRPr>
              <a:latin typeface="Roboto"/>
              <a:ea typeface="Roboto"/>
              <a:cs typeface="Roboto"/>
              <a:sym typeface="Roboto"/>
            </a:endParaRPr>
          </a:p>
        </p:txBody>
      </p:sp>
      <p:pic>
        <p:nvPicPr>
          <p:cNvPr id="191" name="Google Shape;191;p32"/>
          <p:cNvPicPr preferRelativeResize="0"/>
          <p:nvPr/>
        </p:nvPicPr>
        <p:blipFill>
          <a:blip r:embed="rId4">
            <a:alphaModFix/>
          </a:blip>
          <a:stretch>
            <a:fillRect/>
          </a:stretch>
        </p:blipFill>
        <p:spPr>
          <a:xfrm>
            <a:off x="750750" y="954350"/>
            <a:ext cx="5949176" cy="3415624"/>
          </a:xfrm>
          <a:prstGeom prst="rect">
            <a:avLst/>
          </a:prstGeom>
          <a:noFill/>
          <a:ln>
            <a:noFill/>
          </a:ln>
        </p:spPr>
      </p:pic>
      <p:sp>
        <p:nvSpPr>
          <p:cNvPr id="192" name="Google Shape;192;p32"/>
          <p:cNvSpPr txBox="1"/>
          <p:nvPr/>
        </p:nvSpPr>
        <p:spPr>
          <a:xfrm>
            <a:off x="833800" y="1109075"/>
            <a:ext cx="1386300" cy="6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STEP 2:</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18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190"/>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311700" y="434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Benefits</a:t>
            </a:r>
            <a:endParaRPr/>
          </a:p>
        </p:txBody>
      </p:sp>
      <p:sp>
        <p:nvSpPr>
          <p:cNvPr id="198" name="Google Shape;198;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Close to zero infrastructural damage</a:t>
            </a:r>
            <a:endParaRPr/>
          </a:p>
          <a:p>
            <a:pPr indent="-342900" lvl="0" marL="457200" rtl="0" algn="l">
              <a:spcBef>
                <a:spcPts val="0"/>
              </a:spcBef>
              <a:spcAft>
                <a:spcPts val="0"/>
              </a:spcAft>
              <a:buSzPts val="1800"/>
              <a:buChar char="●"/>
            </a:pPr>
            <a:r>
              <a:rPr lang="en"/>
              <a:t>No lives lost</a:t>
            </a:r>
            <a:endParaRPr/>
          </a:p>
          <a:p>
            <a:pPr indent="-342900" lvl="0" marL="457200" rtl="0" algn="l">
              <a:spcBef>
                <a:spcPts val="0"/>
              </a:spcBef>
              <a:spcAft>
                <a:spcPts val="0"/>
              </a:spcAft>
              <a:buSzPts val="1800"/>
              <a:buChar char="●"/>
            </a:pPr>
            <a:r>
              <a:rPr lang="en"/>
              <a:t>Minimal disruption in economy</a:t>
            </a:r>
            <a:endParaRPr/>
          </a:p>
          <a:p>
            <a:pPr indent="0" lvl="0" marL="457200" rtl="0" algn="l">
              <a:spcBef>
                <a:spcPts val="1600"/>
              </a:spcBef>
              <a:spcAft>
                <a:spcPts val="1600"/>
              </a:spcAft>
              <a:buNone/>
            </a:pPr>
            <a:r>
              <a:t/>
            </a:r>
            <a:endParaRPr/>
          </a:p>
        </p:txBody>
      </p:sp>
      <p:pic>
        <p:nvPicPr>
          <p:cNvPr id="199" name="Google Shape;199;p33"/>
          <p:cNvPicPr preferRelativeResize="0"/>
          <p:nvPr/>
        </p:nvPicPr>
        <p:blipFill>
          <a:blip r:embed="rId3">
            <a:alphaModFix/>
          </a:blip>
          <a:stretch>
            <a:fillRect/>
          </a:stretch>
        </p:blipFill>
        <p:spPr>
          <a:xfrm>
            <a:off x="9528700" y="2959562"/>
            <a:ext cx="2433275" cy="1824950"/>
          </a:xfrm>
          <a:prstGeom prst="rect">
            <a:avLst/>
          </a:prstGeom>
          <a:noFill/>
          <a:ln>
            <a:noFill/>
          </a:ln>
        </p:spPr>
      </p:pic>
      <p:pic>
        <p:nvPicPr>
          <p:cNvPr id="200" name="Google Shape;200;p33"/>
          <p:cNvPicPr preferRelativeResize="0"/>
          <p:nvPr/>
        </p:nvPicPr>
        <p:blipFill>
          <a:blip r:embed="rId4">
            <a:alphaModFix/>
          </a:blip>
          <a:stretch>
            <a:fillRect/>
          </a:stretch>
        </p:blipFill>
        <p:spPr>
          <a:xfrm>
            <a:off x="5392125" y="186700"/>
            <a:ext cx="3619200" cy="2262000"/>
          </a:xfrm>
          <a:prstGeom prst="rect">
            <a:avLst/>
          </a:prstGeom>
          <a:noFill/>
          <a:ln>
            <a:noFill/>
          </a:ln>
        </p:spPr>
      </p:pic>
      <p:pic>
        <p:nvPicPr>
          <p:cNvPr id="201" name="Google Shape;201;p33"/>
          <p:cNvPicPr preferRelativeResize="0"/>
          <p:nvPr/>
        </p:nvPicPr>
        <p:blipFill>
          <a:blip r:embed="rId5">
            <a:alphaModFix/>
          </a:blip>
          <a:stretch>
            <a:fillRect/>
          </a:stretch>
        </p:blipFill>
        <p:spPr>
          <a:xfrm>
            <a:off x="311700" y="2448700"/>
            <a:ext cx="3671550" cy="2448699"/>
          </a:xfrm>
          <a:prstGeom prst="rect">
            <a:avLst/>
          </a:prstGeom>
          <a:noFill/>
          <a:ln>
            <a:noFill/>
          </a:ln>
        </p:spPr>
      </p:pic>
      <p:pic>
        <p:nvPicPr>
          <p:cNvPr id="202" name="Google Shape;202;p33"/>
          <p:cNvPicPr preferRelativeResize="0"/>
          <p:nvPr/>
        </p:nvPicPr>
        <p:blipFill>
          <a:blip r:embed="rId6">
            <a:alphaModFix/>
          </a:blip>
          <a:stretch>
            <a:fillRect/>
          </a:stretch>
        </p:blipFill>
        <p:spPr>
          <a:xfrm>
            <a:off x="-2480200" y="2781413"/>
            <a:ext cx="2095500" cy="2181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213" name="Google Shape;213;p35"/>
          <p:cNvSpPr txBox="1"/>
          <p:nvPr>
            <p:ph idx="1" type="body"/>
          </p:nvPr>
        </p:nvSpPr>
        <p:spPr>
          <a:xfrm>
            <a:off x="311700" y="1017800"/>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00"/>
                </a:solidFill>
              </a:rPr>
              <a:t>Slide 3: B. Berwyn, S. Shankman, D. Hasemyer, P. McKenna, M. Lavelle, N. Kusnetz, D. Gearino, B. Berwyn, and G. Gustin, “Why Are Hurricanes Like Dorian Stalling, and Is Global Warming Involved?,” InsideClimate News, 03-Sep-2019. [Online]. Available: https://insideclimatenews.org/news/03092019/hurricane-dorian-climate-change-stall-record-wind-speed-rainfall-intensity-global-warming-bahamas. [Accessed: 01-Nov-2019].</a:t>
            </a:r>
            <a:endParaRPr sz="1200">
              <a:solidFill>
                <a:srgbClr val="000000"/>
              </a:solidFill>
            </a:endParaRPr>
          </a:p>
          <a:p>
            <a:pPr indent="0" lvl="0" marL="0" rtl="0" algn="l">
              <a:spcBef>
                <a:spcPts val="1600"/>
              </a:spcBef>
              <a:spcAft>
                <a:spcPts val="0"/>
              </a:spcAft>
              <a:buNone/>
            </a:pPr>
            <a:r>
              <a:rPr lang="en" sz="1200">
                <a:solidFill>
                  <a:srgbClr val="000000"/>
                </a:solidFill>
                <a:latin typeface="Arial"/>
                <a:ea typeface="Arial"/>
                <a:cs typeface="Arial"/>
                <a:sym typeface="Arial"/>
              </a:rPr>
              <a:t>Slide </a:t>
            </a:r>
            <a:r>
              <a:rPr lang="en" sz="1200">
                <a:solidFill>
                  <a:srgbClr val="000000"/>
                </a:solidFill>
              </a:rPr>
              <a:t>4</a:t>
            </a:r>
            <a:r>
              <a:rPr lang="en" sz="1200">
                <a:solidFill>
                  <a:srgbClr val="000000"/>
                </a:solidFill>
                <a:latin typeface="Arial"/>
                <a:ea typeface="Arial"/>
                <a:cs typeface="Arial"/>
                <a:sym typeface="Arial"/>
              </a:rPr>
              <a:t>:</a:t>
            </a:r>
            <a:r>
              <a:rPr lang="en" sz="1200">
                <a:latin typeface="Arial"/>
                <a:ea typeface="Arial"/>
                <a:cs typeface="Arial"/>
                <a:sym typeface="Arial"/>
              </a:rPr>
              <a:t> </a:t>
            </a:r>
            <a:r>
              <a:rPr lang="en" sz="1200">
                <a:solidFill>
                  <a:srgbClr val="000000"/>
                </a:solidFill>
                <a:latin typeface="Arial"/>
                <a:ea typeface="Arial"/>
                <a:cs typeface="Arial"/>
                <a:sym typeface="Arial"/>
              </a:rPr>
              <a:t>“Climate Change Indicators: Tropical Cyclone Activity,” </a:t>
            </a:r>
            <a:r>
              <a:rPr i="1" lang="en" sz="1200">
                <a:solidFill>
                  <a:srgbClr val="000000"/>
                </a:solidFill>
                <a:latin typeface="Arial"/>
                <a:ea typeface="Arial"/>
                <a:cs typeface="Arial"/>
                <a:sym typeface="Arial"/>
              </a:rPr>
              <a:t>EPA</a:t>
            </a:r>
            <a:r>
              <a:rPr lang="en" sz="1200">
                <a:solidFill>
                  <a:srgbClr val="000000"/>
                </a:solidFill>
                <a:latin typeface="Arial"/>
                <a:ea typeface="Arial"/>
                <a:cs typeface="Arial"/>
                <a:sym typeface="Arial"/>
              </a:rPr>
              <a:t>, 17-Dec-2016. [Online]. Available: https://www.epa.gov/climate-indicators/climate-change-indicators-tropical-cyclone-activity. [Accessed: 27-Oct-2019].</a:t>
            </a:r>
            <a:endParaRPr sz="1200">
              <a:solidFill>
                <a:srgbClr val="000000"/>
              </a:solidFill>
              <a:latin typeface="Arial"/>
              <a:ea typeface="Arial"/>
              <a:cs typeface="Arial"/>
              <a:sym typeface="Arial"/>
            </a:endParaRPr>
          </a:p>
          <a:p>
            <a:pPr indent="0" lvl="0" marL="0" rtl="0" algn="l">
              <a:spcBef>
                <a:spcPts val="1600"/>
              </a:spcBef>
              <a:spcAft>
                <a:spcPts val="0"/>
              </a:spcAft>
              <a:buNone/>
            </a:pPr>
            <a:r>
              <a:rPr lang="en" sz="1200">
                <a:solidFill>
                  <a:srgbClr val="000000"/>
                </a:solidFill>
                <a:latin typeface="Arial"/>
                <a:ea typeface="Arial"/>
                <a:cs typeface="Arial"/>
                <a:sym typeface="Arial"/>
              </a:rPr>
              <a:t>Slide </a:t>
            </a:r>
            <a:r>
              <a:rPr lang="en" sz="1200">
                <a:solidFill>
                  <a:srgbClr val="000000"/>
                </a:solidFill>
              </a:rPr>
              <a:t>5</a:t>
            </a:r>
            <a:r>
              <a:rPr lang="en" sz="1200">
                <a:solidFill>
                  <a:srgbClr val="000000"/>
                </a:solidFill>
                <a:latin typeface="Arial"/>
                <a:ea typeface="Arial"/>
                <a:cs typeface="Arial"/>
                <a:sym typeface="Arial"/>
              </a:rPr>
              <a:t>-1: L. S. Hwang, “Analyze This: Seasonal hurricane costs have been rising sharply,” </a:t>
            </a:r>
            <a:r>
              <a:rPr i="1" lang="en" sz="1200">
                <a:solidFill>
                  <a:srgbClr val="000000"/>
                </a:solidFill>
                <a:latin typeface="Arial"/>
                <a:ea typeface="Arial"/>
                <a:cs typeface="Arial"/>
                <a:sym typeface="Arial"/>
              </a:rPr>
              <a:t>Science News for Students</a:t>
            </a:r>
            <a:r>
              <a:rPr lang="en" sz="1200">
                <a:solidFill>
                  <a:srgbClr val="000000"/>
                </a:solidFill>
                <a:latin typeface="Arial"/>
                <a:ea typeface="Arial"/>
                <a:cs typeface="Arial"/>
                <a:sym typeface="Arial"/>
              </a:rPr>
              <a:t>. [Online]. Available: https://www.sciencenewsforstudents.org/blog/analyze/analyze-seasonal-hurricane-costs-have-been-rising-sharply. [Accessed: 27-Oct-2019].</a:t>
            </a:r>
            <a:endParaRPr sz="1200">
              <a:solidFill>
                <a:srgbClr val="000000"/>
              </a:solidFill>
              <a:latin typeface="Arial"/>
              <a:ea typeface="Arial"/>
              <a:cs typeface="Arial"/>
              <a:sym typeface="Arial"/>
            </a:endParaRPr>
          </a:p>
          <a:p>
            <a:pPr indent="0" lvl="0" marL="0" rtl="0" algn="l">
              <a:spcBef>
                <a:spcPts val="1600"/>
              </a:spcBef>
              <a:spcAft>
                <a:spcPts val="0"/>
              </a:spcAft>
              <a:buNone/>
            </a:pPr>
            <a:r>
              <a:rPr lang="en" sz="1200">
                <a:solidFill>
                  <a:srgbClr val="000000"/>
                </a:solidFill>
                <a:latin typeface="Arial"/>
                <a:ea typeface="Arial"/>
                <a:cs typeface="Arial"/>
                <a:sym typeface="Arial"/>
              </a:rPr>
              <a:t>Slide </a:t>
            </a:r>
            <a:r>
              <a:rPr lang="en" sz="1200">
                <a:solidFill>
                  <a:srgbClr val="000000"/>
                </a:solidFill>
              </a:rPr>
              <a:t>5</a:t>
            </a:r>
            <a:r>
              <a:rPr lang="en" sz="1200">
                <a:solidFill>
                  <a:srgbClr val="000000"/>
                </a:solidFill>
                <a:latin typeface="Arial"/>
                <a:ea typeface="Arial"/>
                <a:cs typeface="Arial"/>
                <a:sym typeface="Arial"/>
              </a:rPr>
              <a:t>-2: </a:t>
            </a:r>
            <a:r>
              <a:rPr lang="en" sz="1200">
                <a:solidFill>
                  <a:srgbClr val="333333"/>
                </a:solidFill>
                <a:highlight>
                  <a:srgbClr val="FFFFFF"/>
                </a:highlight>
                <a:latin typeface="Arial"/>
                <a:ea typeface="Arial"/>
                <a:cs typeface="Arial"/>
                <a:sym typeface="Arial"/>
              </a:rPr>
              <a:t>“List of costliest Atlantic hurricanes,” Wikipedia, 27-Oct-2019. [Online]. Available: https://en.wikipedia.org/wiki/List_of_costliest_Atlantic_hurricanes. [Accessed: 31-Oct-2019].</a:t>
            </a:r>
            <a:endParaRPr sz="1200">
              <a:solidFill>
                <a:srgbClr val="000000"/>
              </a:solidFill>
              <a:latin typeface="Arial"/>
              <a:ea typeface="Arial"/>
              <a:cs typeface="Arial"/>
              <a:sym typeface="Arial"/>
            </a:endParaRPr>
          </a:p>
          <a:p>
            <a:pPr indent="0" lvl="0" marL="0" rtl="0" algn="l">
              <a:spcBef>
                <a:spcPts val="1600"/>
              </a:spcBef>
              <a:spcAft>
                <a:spcPts val="1600"/>
              </a:spcAft>
              <a:buNone/>
            </a:pPr>
            <a:r>
              <a:t/>
            </a:r>
            <a:endParaRPr sz="12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219" name="Google Shape;219;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Arial"/>
                <a:ea typeface="Arial"/>
                <a:cs typeface="Arial"/>
                <a:sym typeface="Arial"/>
              </a:rPr>
              <a:t>Slide </a:t>
            </a:r>
            <a:r>
              <a:rPr lang="en" sz="1200">
                <a:solidFill>
                  <a:srgbClr val="000000"/>
                </a:solidFill>
              </a:rPr>
              <a:t>5</a:t>
            </a:r>
            <a:r>
              <a:rPr lang="en" sz="1200">
                <a:solidFill>
                  <a:srgbClr val="000000"/>
                </a:solidFill>
                <a:latin typeface="Arial"/>
                <a:ea typeface="Arial"/>
                <a:cs typeface="Arial"/>
                <a:sym typeface="Arial"/>
              </a:rPr>
              <a:t>-3: </a:t>
            </a:r>
            <a:r>
              <a:rPr i="1" lang="en" sz="1200">
                <a:solidFill>
                  <a:srgbClr val="000000"/>
                </a:solidFill>
                <a:latin typeface="Arial"/>
                <a:ea typeface="Arial"/>
                <a:cs typeface="Arial"/>
                <a:sym typeface="Arial"/>
              </a:rPr>
              <a:t>National Archives and Records Administration</a:t>
            </a:r>
            <a:r>
              <a:rPr lang="en" sz="1200">
                <a:solidFill>
                  <a:srgbClr val="000000"/>
                </a:solidFill>
                <a:latin typeface="Arial"/>
                <a:ea typeface="Arial"/>
                <a:cs typeface="Arial"/>
                <a:sym typeface="Arial"/>
              </a:rPr>
              <a:t>. [Online]. Available: https://georgewbush-whitehouse.archives.gov/reports/katrina-lessons-learned/chapter1.html. [Accessed: 27-Oct-2019].</a:t>
            </a:r>
            <a:endParaRPr sz="1200">
              <a:solidFill>
                <a:srgbClr val="000000"/>
              </a:solidFill>
              <a:latin typeface="Arial"/>
              <a:ea typeface="Arial"/>
              <a:cs typeface="Arial"/>
              <a:sym typeface="Arial"/>
            </a:endParaRPr>
          </a:p>
          <a:p>
            <a:pPr indent="0" lvl="0" marL="0" rtl="0" algn="l">
              <a:spcBef>
                <a:spcPts val="1600"/>
              </a:spcBef>
              <a:spcAft>
                <a:spcPts val="0"/>
              </a:spcAft>
              <a:buNone/>
            </a:pPr>
            <a:r>
              <a:rPr lang="en" sz="1200">
                <a:solidFill>
                  <a:srgbClr val="000000"/>
                </a:solidFill>
                <a:latin typeface="Arial"/>
                <a:ea typeface="Arial"/>
                <a:cs typeface="Arial"/>
                <a:sym typeface="Arial"/>
              </a:rPr>
              <a:t>Slide </a:t>
            </a:r>
            <a:r>
              <a:rPr lang="en" sz="1200">
                <a:solidFill>
                  <a:srgbClr val="000000"/>
                </a:solidFill>
              </a:rPr>
              <a:t>6</a:t>
            </a:r>
            <a:r>
              <a:rPr lang="en" sz="1200">
                <a:solidFill>
                  <a:srgbClr val="000000"/>
                </a:solidFill>
                <a:latin typeface="Arial"/>
                <a:ea typeface="Arial"/>
                <a:cs typeface="Arial"/>
                <a:sym typeface="Arial"/>
              </a:rPr>
              <a:t>-1: </a:t>
            </a:r>
            <a:r>
              <a:rPr lang="en" sz="1200">
                <a:solidFill>
                  <a:srgbClr val="333333"/>
                </a:solidFill>
                <a:highlight>
                  <a:srgbClr val="FFFFFF"/>
                </a:highlight>
                <a:latin typeface="Arial"/>
                <a:ea typeface="Arial"/>
                <a:cs typeface="Arial"/>
                <a:sym typeface="Arial"/>
              </a:rPr>
              <a:t>J. Carter, “Super Typhoon Hagibis: could new tech turn Japan's super storms into 50 years of power?,” </a:t>
            </a:r>
            <a:r>
              <a:rPr i="1" lang="en" sz="1200">
                <a:solidFill>
                  <a:srgbClr val="333333"/>
                </a:solidFill>
                <a:latin typeface="Arial"/>
                <a:ea typeface="Arial"/>
                <a:cs typeface="Arial"/>
                <a:sym typeface="Arial"/>
              </a:rPr>
              <a:t>TechRadar</a:t>
            </a:r>
            <a:r>
              <a:rPr lang="en" sz="1200">
                <a:solidFill>
                  <a:srgbClr val="333333"/>
                </a:solidFill>
                <a:highlight>
                  <a:srgbClr val="FFFFFF"/>
                </a:highlight>
                <a:latin typeface="Arial"/>
                <a:ea typeface="Arial"/>
                <a:cs typeface="Arial"/>
                <a:sym typeface="Arial"/>
              </a:rPr>
              <a:t>, 11-Oct-2019. [Online]. Available: https://www.techradar.com/news/could-new-typhoon-turbines-turn-japans-super-storms-into-electricity. [Accessed: 31-Oct-2019].</a:t>
            </a:r>
            <a:endParaRPr sz="1200">
              <a:solidFill>
                <a:srgbClr val="333333"/>
              </a:solidFill>
              <a:highlight>
                <a:srgbClr val="FFFFFF"/>
              </a:highlight>
              <a:latin typeface="Arial"/>
              <a:ea typeface="Arial"/>
              <a:cs typeface="Arial"/>
              <a:sym typeface="Arial"/>
            </a:endParaRPr>
          </a:p>
          <a:p>
            <a:pPr indent="0" lvl="0" marL="0" rtl="0" algn="l">
              <a:spcBef>
                <a:spcPts val="1600"/>
              </a:spcBef>
              <a:spcAft>
                <a:spcPts val="0"/>
              </a:spcAft>
              <a:buNone/>
            </a:pPr>
            <a:r>
              <a:rPr lang="en" sz="1200">
                <a:solidFill>
                  <a:srgbClr val="333333"/>
                </a:solidFill>
                <a:highlight>
                  <a:srgbClr val="FFFFFF"/>
                </a:highlight>
                <a:latin typeface="Arial"/>
                <a:ea typeface="Arial"/>
                <a:cs typeface="Arial"/>
                <a:sym typeface="Arial"/>
              </a:rPr>
              <a:t>Slide </a:t>
            </a:r>
            <a:r>
              <a:rPr lang="en" sz="1200">
                <a:solidFill>
                  <a:srgbClr val="333333"/>
                </a:solidFill>
                <a:highlight>
                  <a:srgbClr val="FFFFFF"/>
                </a:highlight>
              </a:rPr>
              <a:t>6</a:t>
            </a:r>
            <a:r>
              <a:rPr lang="en" sz="1200">
                <a:solidFill>
                  <a:srgbClr val="333333"/>
                </a:solidFill>
                <a:highlight>
                  <a:srgbClr val="FFFFFF"/>
                </a:highlight>
                <a:latin typeface="Arial"/>
                <a:ea typeface="Arial"/>
                <a:cs typeface="Arial"/>
                <a:sym typeface="Arial"/>
              </a:rPr>
              <a:t>-2:M. Z. Donahue, “Can We Capture Energy From a Hurricane?,” </a:t>
            </a:r>
            <a:r>
              <a:rPr i="1" lang="en" sz="1200">
                <a:solidFill>
                  <a:srgbClr val="333333"/>
                </a:solidFill>
                <a:latin typeface="Arial"/>
                <a:ea typeface="Arial"/>
                <a:cs typeface="Arial"/>
                <a:sym typeface="Arial"/>
              </a:rPr>
              <a:t>Smithsonian.com</a:t>
            </a:r>
            <a:r>
              <a:rPr lang="en" sz="1200">
                <a:solidFill>
                  <a:srgbClr val="333333"/>
                </a:solidFill>
                <a:highlight>
                  <a:srgbClr val="FFFFFF"/>
                </a:highlight>
                <a:latin typeface="Arial"/>
                <a:ea typeface="Arial"/>
                <a:cs typeface="Arial"/>
                <a:sym typeface="Arial"/>
              </a:rPr>
              <a:t>, 12-Oct-2016. [Online]. Available: https://www.smithsonianmag.com/innovation/can-we-capture-energy-hurricane-180960750/. [Accessed: 31-Oct-2019].</a:t>
            </a:r>
            <a:endParaRPr sz="1200">
              <a:solidFill>
                <a:srgbClr val="333333"/>
              </a:solidFill>
              <a:highlight>
                <a:srgbClr val="FFFFFF"/>
              </a:highlight>
              <a:latin typeface="Arial"/>
              <a:ea typeface="Arial"/>
              <a:cs typeface="Arial"/>
              <a:sym typeface="Arial"/>
            </a:endParaRPr>
          </a:p>
          <a:p>
            <a:pPr indent="0" lvl="0" marL="0" rtl="0" algn="l">
              <a:spcBef>
                <a:spcPts val="1600"/>
              </a:spcBef>
              <a:spcAft>
                <a:spcPts val="0"/>
              </a:spcAft>
              <a:buNone/>
            </a:pPr>
            <a:r>
              <a:t/>
            </a:r>
            <a:endParaRPr sz="1100">
              <a:solidFill>
                <a:srgbClr val="000000"/>
              </a:solidFill>
              <a:latin typeface="Arial"/>
              <a:ea typeface="Arial"/>
              <a:cs typeface="Arial"/>
              <a:sym typeface="Arial"/>
            </a:endParaRPr>
          </a:p>
          <a:p>
            <a:pPr indent="0" lvl="0" marL="0" rtl="0" algn="l">
              <a:spcBef>
                <a:spcPts val="1600"/>
              </a:spcBef>
              <a:spcAft>
                <a:spcPts val="1600"/>
              </a:spcAft>
              <a:buNone/>
            </a:pPr>
            <a:r>
              <a:t/>
            </a:r>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